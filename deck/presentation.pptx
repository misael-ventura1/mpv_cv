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2A36"/>
                </a:solidFill>
              </a:defRPr>
            </a:pPr>
            <a:r>
              <a:t>Storage Unit Item Detection —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A6F97"/>
                </a:solidFill>
              </a:defRPr>
            </a:pPr>
            <a:r>
              <a:t>Detect items in view · flag when something is added or removed</a:t>
            </a:r>
          </a:p>
          <a:p>
            <a:pPr>
              <a:defRPr sz="1600">
                <a:solidFill>
                  <a:srgbClr val="6B7785"/>
                </a:solidFill>
              </a:defRPr>
            </a:pPr>
            <a:r>
              <a:t>Misael · 2026-07-22 · one-day MVP on stock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36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A storage unit holds changing inventory — nobody watches it continuously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Goal 1: know what items are currently in view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Goal 2: raise an event the moment an item is added or removed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Constraint: commodity hardware — one webcam, CPU-only machine (no GPU)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Deliverable today: the smallest version that demonstrably works, plus the roadmap to a reliable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36"/>
                </a:solidFill>
              </a:defRPr>
            </a:pPr>
            <a:r>
              <a:t>MVP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463040"/>
            <a:ext cx="2011680" cy="1005840"/>
          </a:xfrm>
          <a:prstGeom prst="roundRect">
            <a:avLst/>
          </a:prstGeom>
          <a:solidFill>
            <a:srgbClr val="E8F0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2A36"/>
                </a:solidFill>
              </a:defRPr>
            </a:pPr>
            <a:r>
              <a:t>Webcam</a:t>
            </a:r>
            <a:br/>
            <a:r>
              <a:t>(continuous connection)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1463040"/>
            <a:ext cx="2011680" cy="1005840"/>
          </a:xfrm>
          <a:prstGeom prst="roundRect">
            <a:avLst/>
          </a:prstGeom>
          <a:solidFill>
            <a:srgbClr val="E8F0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2A36"/>
                </a:solidFill>
              </a:defRPr>
            </a:pPr>
            <a:r>
              <a:t>Frame loop</a:t>
            </a:r>
            <a:br/>
            <a:r>
              <a:t>(read every frame)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0" y="1463040"/>
            <a:ext cx="2011680" cy="1005840"/>
          </a:xfrm>
          <a:prstGeom prst="roundRect">
            <a:avLst/>
          </a:prstGeom>
          <a:solidFill>
            <a:srgbClr val="E8F0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2A36"/>
                </a:solidFill>
              </a:defRPr>
            </a:pPr>
            <a:r>
              <a:t>Sampled frame</a:t>
            </a:r>
            <a:br/>
            <a:r>
              <a:t>(every 5 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463040"/>
            <a:ext cx="2011680" cy="1005840"/>
          </a:xfrm>
          <a:prstGeom prst="roundRect">
            <a:avLst/>
          </a:prstGeom>
          <a:solidFill>
            <a:srgbClr val="E8F0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2A36"/>
                </a:solidFill>
              </a:defRPr>
            </a:pPr>
            <a:r>
              <a:t>YOLO11n on CPU</a:t>
            </a:r>
            <a:br/>
            <a:r>
              <a:t>(stock COCO classes)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1463040"/>
            <a:ext cx="1737360" cy="1005840"/>
          </a:xfrm>
          <a:prstGeom prst="roundRect">
            <a:avLst/>
          </a:prstGeom>
          <a:solidFill>
            <a:srgbClr val="E8F0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2A36"/>
                </a:solidFill>
              </a:defRPr>
            </a:pPr>
            <a:r>
              <a:t>Per-class counts</a:t>
            </a:r>
          </a:p>
        </p:txBody>
      </p:sp>
      <p:cxnSp>
        <p:nvCxnSpPr>
          <p:cNvPr id="8" name="Connector 7"/>
          <p:cNvCxnSpPr>
            <a:stCxn id="3" idx="3"/>
            <a:endCxn id="4" idx="1"/>
          </p:cNvCxnSpPr>
          <p:nvPr/>
        </p:nvCxnSpPr>
        <p:spPr>
          <a:xfrm flipV="1">
            <a:off x="2377440" y="1965960"/>
            <a:ext cx="457200" cy="0"/>
          </a:xfrm>
          <a:prstGeom prst="line">
            <a:avLst/>
          </a:prstGeom>
          <a:ln w="2540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4" idx="3"/>
            <a:endCxn id="5" idx="1"/>
          </p:cNvCxnSpPr>
          <p:nvPr/>
        </p:nvCxnSpPr>
        <p:spPr>
          <a:xfrm flipV="1">
            <a:off x="4846320" y="1965960"/>
            <a:ext cx="457200" cy="0"/>
          </a:xfrm>
          <a:prstGeom prst="line">
            <a:avLst/>
          </a:prstGeom>
          <a:ln w="2540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5" idx="3"/>
            <a:endCxn id="6" idx="1"/>
          </p:cNvCxnSpPr>
          <p:nvPr/>
        </p:nvCxnSpPr>
        <p:spPr>
          <a:xfrm flipV="1">
            <a:off x="7315200" y="1965960"/>
            <a:ext cx="457200" cy="0"/>
          </a:xfrm>
          <a:prstGeom prst="line">
            <a:avLst/>
          </a:prstGeom>
          <a:ln w="2540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6" idx="3"/>
            <a:endCxn id="7" idx="1"/>
          </p:cNvCxnSpPr>
          <p:nvPr/>
        </p:nvCxnSpPr>
        <p:spPr>
          <a:xfrm flipV="1">
            <a:off x="9784080" y="1965960"/>
            <a:ext cx="274320" cy="0"/>
          </a:xfrm>
          <a:prstGeom prst="line">
            <a:avLst/>
          </a:prstGeom>
          <a:ln w="2540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9418320" y="3931920"/>
            <a:ext cx="2377440" cy="1371600"/>
          </a:xfrm>
          <a:prstGeom prst="diamond">
            <a:avLst/>
          </a:prstGeom>
          <a:solidFill>
            <a:srgbClr val="E8F0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2A36"/>
                </a:solidFill>
              </a:defRPr>
            </a:pPr>
            <a:r>
              <a:t>Diff vs previous</a:t>
            </a:r>
            <a:br/>
            <a:r>
              <a:t>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4114800"/>
            <a:ext cx="2194560" cy="1005840"/>
          </a:xfrm>
          <a:prstGeom prst="roundRect">
            <a:avLst/>
          </a:prstGeom>
          <a:solidFill>
            <a:srgbClr val="FBEEDD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2A36"/>
                </a:solidFill>
              </a:defRPr>
            </a:pPr>
            <a:r>
              <a:t>ADDED / REMOVED</a:t>
            </a:r>
            <a:br/>
            <a:r>
              <a:t>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4114800"/>
            <a:ext cx="2377440" cy="1005840"/>
          </a:xfrm>
          <a:prstGeom prst="roundRect">
            <a:avLst/>
          </a:prstGeom>
          <a:solidFill>
            <a:srgbClr val="E8F0F7"/>
          </a:solidFill>
          <a:ln w="190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2A36"/>
                </a:solidFill>
              </a:defRPr>
            </a:pPr>
            <a:r>
              <a:t>Console + events.csv</a:t>
            </a:r>
            <a:br/>
            <a:r>
              <a:t>+ annotated snapshot</a:t>
            </a:r>
          </a:p>
        </p:txBody>
      </p:sp>
      <p:cxnSp>
        <p:nvCxnSpPr>
          <p:cNvPr id="15" name="Connector 14"/>
          <p:cNvCxnSpPr>
            <a:stCxn id="7" idx="2"/>
            <a:endCxn id="12" idx="0"/>
          </p:cNvCxnSpPr>
          <p:nvPr/>
        </p:nvCxnSpPr>
        <p:spPr>
          <a:xfrm flipH="1">
            <a:off x="10607040" y="2468880"/>
            <a:ext cx="320040" cy="1463040"/>
          </a:xfrm>
          <a:prstGeom prst="bentConnector3">
            <a:avLst/>
          </a:prstGeom>
          <a:ln w="2540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12" idx="1"/>
            <a:endCxn id="13" idx="3"/>
          </p:cNvCxnSpPr>
          <p:nvPr/>
        </p:nvCxnSpPr>
        <p:spPr>
          <a:xfrm flipH="1" flipV="1">
            <a:off x="7863840" y="4617720"/>
            <a:ext cx="1554480" cy="0"/>
          </a:xfrm>
          <a:prstGeom prst="line">
            <a:avLst/>
          </a:prstGeom>
          <a:ln w="2540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0" y="4251959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B7785"/>
                </a:solidFill>
              </a:defRPr>
            </a:pPr>
            <a:r>
              <a:t>change</a:t>
            </a:r>
          </a:p>
        </p:txBody>
      </p:sp>
      <p:cxnSp>
        <p:nvCxnSpPr>
          <p:cNvPr id="18" name="Connector 17"/>
          <p:cNvCxnSpPr>
            <a:stCxn id="13" idx="1"/>
            <a:endCxn id="14" idx="3"/>
          </p:cNvCxnSpPr>
          <p:nvPr/>
        </p:nvCxnSpPr>
        <p:spPr>
          <a:xfrm flipH="1" flipV="1">
            <a:off x="4754880" y="4617720"/>
            <a:ext cx="914400" cy="0"/>
          </a:xfrm>
          <a:prstGeom prst="line">
            <a:avLst/>
          </a:prstGeom>
          <a:ln w="2540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4" idx="0"/>
            <a:endCxn id="4" idx="2"/>
          </p:cNvCxnSpPr>
          <p:nvPr/>
        </p:nvCxnSpPr>
        <p:spPr>
          <a:xfrm flipV="1">
            <a:off x="3566160" y="2468880"/>
            <a:ext cx="274320" cy="1645920"/>
          </a:xfrm>
          <a:prstGeom prst="bentConnector3">
            <a:avLst/>
          </a:prstGeom>
          <a:ln w="2540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51760" y="32461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B7785"/>
                </a:solidFill>
              </a:defRPr>
            </a:pPr>
            <a:r>
              <a:t>next sample</a:t>
            </a:r>
          </a:p>
        </p:txBody>
      </p:sp>
      <p:cxnSp>
        <p:nvCxnSpPr>
          <p:cNvPr id="21" name="Connector 20"/>
          <p:cNvCxnSpPr>
            <a:stCxn id="12" idx="0"/>
            <a:endCxn id="4" idx="2"/>
          </p:cNvCxnSpPr>
          <p:nvPr/>
        </p:nvCxnSpPr>
        <p:spPr>
          <a:xfrm flipH="1" flipV="1">
            <a:off x="3840480" y="2468880"/>
            <a:ext cx="6766560" cy="1463040"/>
          </a:xfrm>
          <a:prstGeom prst="bentConnector3">
            <a:avLst/>
          </a:prstGeom>
          <a:ln w="25400">
            <a:solidFill>
              <a:srgbClr val="6B77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0" y="28346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6B7785"/>
                </a:solidFill>
              </a:defRPr>
            </a:pPr>
            <a:r>
              <a:t>no 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i="1">
                <a:solidFill>
                  <a:srgbClr val="6B7785"/>
                </a:solidFill>
              </a:defRPr>
            </a:pPr>
            <a:r>
              <a:t>Sampling every N seconds keeps a CPU-only machine comfortably ahead of the detector's speed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36"/>
                </a:solidFill>
              </a:defRPr>
            </a:pPr>
            <a:r>
              <a:t>Key design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Sampled frames, not full-rate video</a:t>
            </a:r>
          </a:p>
          <a:p>
            <a:pPr lvl="1">
              <a:spcAft>
                <a:spcPts val="1000"/>
              </a:spcAft>
              <a:defRPr sz="1500">
                <a:solidFill>
                  <a:srgbClr val="6B7785"/>
                </a:solidFill>
              </a:defRPr>
            </a:pPr>
            <a:r>
              <a:t>No GPU: YOLO on CPU manages a few frames/second at best — sampling every 5 s from a continuous connection stays real-time-enough without lag or dropped frames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Stock pretrained YOLO11n — zero training time</a:t>
            </a:r>
          </a:p>
          <a:p>
            <a:pPr lvl="1">
              <a:spcAft>
                <a:spcPts val="1000"/>
              </a:spcAft>
              <a:defRPr sz="1500">
                <a:solidFill>
                  <a:srgbClr val="6B7785"/>
                </a:solidFill>
              </a:defRPr>
            </a:pPr>
            <a:r>
              <a:t>COCO's 80 classes have no "box" class: suitcase / backpack / handbag act as stand-ins for real storage items until Part B custom training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Count-diff event logic — no tracking</a:t>
            </a:r>
          </a:p>
          <a:p>
            <a:pPr lvl="1">
              <a:spcAft>
                <a:spcPts val="1000"/>
              </a:spcAft>
              <a:defRPr sz="1500">
                <a:solidFill>
                  <a:srgbClr val="6B7785"/>
                </a:solidFill>
              </a:defRPr>
            </a:pPr>
            <a:r>
              <a:t>Per class: count went up → ADDED, count went down → REMOVED. Simple, explainable, unit-testable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Everything logged</a:t>
            </a:r>
          </a:p>
          <a:p>
            <a:pPr lvl="1">
              <a:spcAft>
                <a:spcPts val="1000"/>
              </a:spcAft>
              <a:defRPr sz="1500">
                <a:solidFill>
                  <a:srgbClr val="6B7785"/>
                </a:solidFill>
              </a:defRPr>
            </a:pPr>
            <a:r>
              <a:t>Counts every sample; events to CSV; annotated snapshot saved on every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36"/>
                </a:solidFill>
              </a:defRPr>
            </a:pPr>
            <a:r>
              <a:t>Demo —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4023360" cy="28346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B7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2A36"/>
                </a:solidFill>
              </a:defRPr>
            </a:pPr>
            <a:r>
              <a:t>Annotated snapshot placeholder</a:t>
            </a:r>
            <a:br/>
            <a:br/>
            <a:r>
              <a:t>run watcher.py, stage an add/remove,</a:t>
            </a:r>
            <a:br/>
            <a:r>
              <a:t>then re-run build_deck.py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37760" y="1280160"/>
            <a:ext cx="4023360" cy="283464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6B77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F2A36"/>
                </a:solidFill>
              </a:defRPr>
            </a:pPr>
            <a:r>
              <a:t>Annotated snapshot placeholder</a:t>
            </a:r>
            <a:br/>
            <a:br/>
            <a:r>
              <a:t>run watcher.py, stage an add/remove,</a:t>
            </a:r>
            <a:br/>
            <a:r>
              <a:t>then re-run build_deck.py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10642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B7785"/>
                </a:solidFill>
                <a:latin typeface="Consolas"/>
              </a:defRPr>
            </a:pPr>
            <a:r>
              <a:t>events.csv placeholder — rows will appear here after the staged demo run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36"/>
                </a:solidFill>
              </a:defRPr>
            </a:pPr>
            <a:r>
              <a:t>Known limitations — stated honestly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Stand-in classes: COCO has no "box" class — real storage items are approximated until custom training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A single flickered detection produces a false ADDED/REMOVED pair — hysteresis is a Part B item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Equal-count swaps between samples are invisible to count-diff logic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Lighting sensitivity untested — Part B has a dedicated stress-test phase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No tracking across frames: identity of individual items is not maintained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36"/>
                </a:solidFill>
              </a:defRPr>
            </a:pPr>
            <a:r>
              <a:t>Roadmap — Part B (post-MVP)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A36"/>
                </a:solidFill>
              </a:defRPr>
            </a:pPr>
            <a:r>
              <a:t>1 · Capture strategy — motion-triggered snapshots (frame diff, MOG2/KNN) vs. intervals; lighting false-trigger testing</a:t>
            </a:r>
          </a:p>
          <a:p>
            <a:pPr>
              <a:spcAft>
                <a:spcPts val="1000"/>
              </a:spcAft>
              <a:defRPr sz="1600">
                <a:solidFill>
                  <a:srgbClr val="1F2A36"/>
                </a:solidFill>
              </a:defRPr>
            </a:pPr>
            <a:r>
              <a:t>2 · Data &amp; annotation — labeling workflow (Roboflow / CVAT), augmentation to stretch a small real dataset</a:t>
            </a:r>
          </a:p>
          <a:p>
            <a:pPr>
              <a:spcAft>
                <a:spcPts val="1000"/>
              </a:spcAft>
              <a:defRPr sz="1600">
                <a:solidFill>
                  <a:srgbClr val="1F2A36"/>
                </a:solidFill>
              </a:defRPr>
            </a:pPr>
            <a:r>
              <a:t>3 · Detection model — fine-tune YOLO on real items, compare one alternative architecture, benchmark on target hardware</a:t>
            </a:r>
          </a:p>
          <a:p>
            <a:pPr>
              <a:spcAft>
                <a:spcPts val="1000"/>
              </a:spcAft>
              <a:defRPr sz="1600">
                <a:solidFill>
                  <a:srgbClr val="1F2A36"/>
                </a:solidFill>
              </a:defRPr>
            </a:pPr>
            <a:r>
              <a:t>4 · Event logic — confidence hysteresis to kill flicker false-events; tracker comparison if continuous video returns</a:t>
            </a:r>
          </a:p>
          <a:p>
            <a:pPr>
              <a:spcAft>
                <a:spcPts val="1000"/>
              </a:spcAft>
              <a:defRPr sz="1600">
                <a:solidFill>
                  <a:srgbClr val="1F2A36"/>
                </a:solidFill>
              </a:defRPr>
            </a:pPr>
            <a:r>
              <a:t>5 · Robustness — lighting, occlusion, camera angle, similar-item confusion, long-running drift</a:t>
            </a:r>
          </a:p>
          <a:p>
            <a:pPr>
              <a:spcAft>
                <a:spcPts val="1000"/>
              </a:spcAft>
              <a:defRPr sz="1600">
                <a:solidFill>
                  <a:srgbClr val="1F2A36"/>
                </a:solidFill>
              </a:defRPr>
            </a:pPr>
            <a:r>
              <a:t>6 · Recommendation — chosen approach, reliability limits, deployment hardware requirements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A36"/>
                </a:solidFill>
              </a:defRPr>
            </a:pPr>
            <a:r>
              <a:t>Next steps /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Validate the MVP against the real storage unit and real items this week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Decide camera placement and target hardware for deployment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Approve Part B exploration time — capture strategy and custom training are the two biggest reliability levers</a:t>
            </a:r>
          </a:p>
          <a:p>
            <a:pPr>
              <a:spcAft>
                <a:spcPts val="1000"/>
              </a:spcAft>
              <a:defRPr sz="1800">
                <a:solidFill>
                  <a:srgbClr val="1F2A36"/>
                </a:solidFill>
              </a:defRPr>
            </a:pPr>
            <a:r>
              <a:t>Schedule a data-collection session (photos of real items) to unlock custom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